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Bold" charset="1" panose="020B0802030000000004"/>
      <p:regular r:id="rId14"/>
    </p:embeddedFont>
    <p:embeddedFont>
      <p:font typeface="Inter" charset="1" panose="020B050203000000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09625"/>
            <a:ext cx="7620000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THE EXPORT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33525"/>
            <a:ext cx="11430000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RUNS EVERY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667000"/>
            <a:ext cx="18097500" cy="247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98"/>
              </a:lnSpc>
              <a:spcBef>
                <a:spcPct val="0"/>
              </a:spcBef>
            </a:pPr>
            <a:r>
              <a:rPr lang="en-US" b="true" sz="19997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MONTH.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5772150"/>
            <a:ext cx="85725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No one knows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6886575"/>
            <a:ext cx="15240000" cy="216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748"/>
              </a:lnSpc>
              <a:spcBef>
                <a:spcPct val="0"/>
              </a:spcBef>
            </a:pPr>
            <a:r>
              <a:rPr lang="en-US" b="true" sz="17497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what it says.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7810500"/>
            <a:ext cx="12382500" cy="0"/>
          </a:xfrm>
          <a:prstGeom prst="line">
            <a:avLst/>
          </a:prstGeom>
          <a:ln cap="rnd" w="38100">
            <a:solidFill>
              <a:srgbClr val="CC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715000" y="9286875"/>
            <a:ext cx="381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if the pattern holds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0" y="8496300"/>
            <a:ext cx="4762500" cy="74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2"/>
              </a:lnSpc>
              <a:spcBef>
                <a:spcPct val="0"/>
              </a:spcBef>
            </a:pPr>
            <a:r>
              <a:rPr lang="en-US" b="true" sz="5622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~8B Ft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3467100"/>
            <a:ext cx="20955000" cy="27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723"/>
              </a:lnSpc>
              <a:spcBef>
                <a:spcPct val="0"/>
              </a:spcBef>
            </a:pPr>
            <a:r>
              <a:rPr lang="en-US" b="true" sz="21914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110,000,000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6372225"/>
            <a:ext cx="2857500" cy="67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2"/>
              </a:lnSpc>
              <a:spcBef>
                <a:spcPct val="0"/>
              </a:spcBef>
            </a:pPr>
            <a:r>
              <a:rPr lang="en-US" sz="5022" strike="noStrike" u="non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Ft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714375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one department. one hospital. our model.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8496300"/>
            <a:ext cx="3810000" cy="74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2"/>
              </a:lnSpc>
              <a:spcBef>
                <a:spcPct val="0"/>
              </a:spcBef>
            </a:pPr>
            <a:r>
              <a:rPr lang="en-US" b="true" sz="5622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×163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400175"/>
            <a:ext cx="17145000" cy="382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73"/>
              </a:lnSpc>
              <a:spcBef>
                <a:spcPct val="0"/>
              </a:spcBef>
            </a:pPr>
            <a:r>
              <a:rPr lang="en-US" b="true" sz="16081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SAME</a:t>
            </a:r>
          </a:p>
          <a:p>
            <a:pPr algn="l" marL="0" indent="0" lvl="0">
              <a:lnSpc>
                <a:spcPts val="14473"/>
              </a:lnSpc>
              <a:spcBef>
                <a:spcPct val="0"/>
              </a:spcBef>
            </a:pPr>
            <a:r>
              <a:rPr lang="en-US" b="true" sz="16081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DATA.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5000" y="9058275"/>
            <a:ext cx="400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One upload.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0" y="5400675"/>
            <a:ext cx="6667500" cy="180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ANALYST</a:t>
            </a:r>
          </a:p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sz="6399" strike="noStrike" u="non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sees waste.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5400675"/>
            <a:ext cx="6667500" cy="180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CFO</a:t>
            </a:r>
          </a:p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sz="6399" strike="noStrike" u="non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sees strategy.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1257300"/>
            <a:ext cx="17145000" cy="426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23"/>
              </a:lnSpc>
              <a:spcBef>
                <a:spcPct val="0"/>
              </a:spcBef>
            </a:pPr>
            <a:r>
              <a:rPr lang="en-US" sz="17914" strike="noStrike" u="non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OPEN IT</a:t>
            </a:r>
          </a:p>
          <a:p>
            <a:pPr algn="l" marL="0" indent="0" lvl="0">
              <a:lnSpc>
                <a:spcPts val="16123"/>
              </a:lnSpc>
              <a:spcBef>
                <a:spcPct val="0"/>
              </a:spcBef>
            </a:pPr>
            <a:r>
              <a:rPr lang="en-US" b="true" sz="17914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NOW.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4953000"/>
            <a:ext cx="3810000" cy="0"/>
          </a:xfrm>
          <a:prstGeom prst="line">
            <a:avLst/>
          </a:prstGeom>
          <a:ln cap="rnd" w="38100">
            <a:solidFill>
              <a:srgbClr val="CC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73050" y="3258911"/>
            <a:ext cx="4286250" cy="4286250"/>
          </a:xfrm>
          <a:custGeom>
            <a:avLst/>
            <a:gdLst/>
            <a:ahLst/>
            <a:cxnLst/>
            <a:rect r="r" b="b" t="t" l="l"/>
            <a:pathLst>
              <a:path h="4286250" w="4286250">
                <a:moveTo>
                  <a:pt x="0" y="0"/>
                </a:moveTo>
                <a:lnTo>
                  <a:pt x="4286250" y="0"/>
                </a:lnTo>
                <a:lnTo>
                  <a:pt x="42862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9525000"/>
            <a:ext cx="1143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Synthetic data · Semmelweis 2024 public financials · domain expert interviews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7905750"/>
            <a:ext cx="12382500" cy="0"/>
          </a:xfrm>
          <a:prstGeom prst="line">
            <a:avLst/>
          </a:prstGeom>
          <a:ln cap="rnd" w="28575">
            <a:solidFill>
              <a:srgbClr val="CC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14500" y="5695950"/>
            <a:ext cx="571500" cy="49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3747" strike="noStrike" u="non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4500" y="3981450"/>
            <a:ext cx="571500" cy="49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3747" strike="noStrike" u="non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500" y="2266950"/>
            <a:ext cx="571500" cy="49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3747" strike="noStrike" u="non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552575"/>
            <a:ext cx="381000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EXPORT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0" y="1552575"/>
            <a:ext cx="857250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CT-Ecostat, Medworks, procurement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3209925"/>
            <a:ext cx="38100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UPLOAD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0" y="3267075"/>
            <a:ext cx="857250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CSV → Elessar web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4867275"/>
            <a:ext cx="381000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COMPUTE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0" y="4981575"/>
            <a:ext cx="857250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NEAK DRG logic, deficit per procedure,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SKU fragmentation, expiry waste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000" y="6334125"/>
            <a:ext cx="571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DECIDE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0" y="6696075"/>
            <a:ext cx="857250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Executive view + Analyst 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286750"/>
            <a:ext cx="13335000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No installation. No IT project.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Works with what they already have.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924050"/>
            <a:ext cx="95250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VENDORS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2847975"/>
            <a:ext cx="17145000" cy="334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7"/>
              </a:lnSpc>
              <a:spcBef>
                <a:spcPct val="0"/>
              </a:spcBef>
            </a:pPr>
            <a:r>
              <a:rPr lang="en-US" b="true" sz="25047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WON'T.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5410200"/>
            <a:ext cx="571500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We already did.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5905500"/>
            <a:ext cx="13335000" cy="0"/>
          </a:xfrm>
          <a:prstGeom prst="line">
            <a:avLst/>
          </a:prstGeom>
          <a:ln cap="rnd" w="19050">
            <a:solidFill>
              <a:srgbClr val="0A0A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6391275"/>
            <a:ext cx="2857500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NEAK DRG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0500" y="6362700"/>
            <a:ext cx="952500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Hungarian hospital billing logic built in.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PowerBI doesn't have it. SAP doesn't have it. We 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7343775"/>
            <a:ext cx="2857500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00500" y="7315200"/>
            <a:ext cx="952500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Real hospital relationships through EPC Healthcare.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Not a cold door.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8296275"/>
            <a:ext cx="2857500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CC0000"/>
                </a:solidFill>
                <a:latin typeface="Inter Bold"/>
                <a:ea typeface="Inter Bold"/>
                <a:cs typeface="Inter Bold"/>
                <a:sym typeface="Inter Bold"/>
              </a:rPr>
              <a:t>6 MONTHS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00500" y="8267700"/>
            <a:ext cx="952500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Domain ontology, data mappings, validation rules.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The boring work nobody wants to do twice.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295400"/>
            <a:ext cx="76200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A0A0A"/>
                </a:solidFill>
                <a:latin typeface="Inter Bold"/>
                <a:ea typeface="Inter Bold"/>
                <a:cs typeface="Inter Bold"/>
                <a:sym typeface="Inter Bold"/>
              </a:rPr>
              <a:t>GLOBAL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500" y="495300"/>
            <a:ext cx="19050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ELESSAR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057900" y="1771650"/>
            <a:ext cx="6172200" cy="6172200"/>
            <a:chOff x="0" y="0"/>
            <a:chExt cx="8229600" cy="822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229600"/>
                  </a:lnTo>
                  <a:lnTo>
                    <a:pt x="0" y="82296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239000" y="8353425"/>
            <a:ext cx="3810000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5F3EE"/>
                </a:solidFill>
                <a:latin typeface="Inter"/>
                <a:ea typeface="Inter"/>
                <a:cs typeface="Inter"/>
                <a:sym typeface="Inter"/>
              </a:rPr>
              <a:t>elessar.hu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0" y="9753600"/>
            <a:ext cx="4762500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0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110,000,000 Ft. one department.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DAHLJTPT9aY</dc:identifier>
  <dcterms:modified xsi:type="dcterms:W3CDTF">2011-08-01T06:04:30Z</dcterms:modified>
  <cp:revision>1</cp:revision>
  <dc:title>3-Min Argument Slides Design Concept</dc:title>
</cp:coreProperties>
</file>